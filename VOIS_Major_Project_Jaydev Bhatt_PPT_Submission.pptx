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1"/>
  </p:notesMasterIdLst>
  <p:handoutMasterIdLst>
    <p:handoutMasterId r:id="rId22"/>
  </p:handoutMasterIdLst>
  <p:sldIdLst>
    <p:sldId id="338" r:id="rId5"/>
    <p:sldId id="327" r:id="rId6"/>
    <p:sldId id="315" r:id="rId7"/>
    <p:sldId id="329" r:id="rId8"/>
    <p:sldId id="302" r:id="rId9"/>
    <p:sldId id="339" r:id="rId10"/>
    <p:sldId id="340" r:id="rId11"/>
    <p:sldId id="344" r:id="rId12"/>
    <p:sldId id="345" r:id="rId13"/>
    <p:sldId id="346" r:id="rId14"/>
    <p:sldId id="347" r:id="rId15"/>
    <p:sldId id="348" r:id="rId16"/>
    <p:sldId id="341" r:id="rId17"/>
    <p:sldId id="342" r:id="rId18"/>
    <p:sldId id="343" r:id="rId19"/>
    <p:sldId id="30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84" d="100"/>
          <a:sy n="84" d="100"/>
        </p:scale>
        <p:origin x="562" y="77"/>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9/8/2026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9/8/2026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9/8/2026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9/8/2026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9/8/2026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hyperlink" Target="https://github.com/bhattjaydev007-ai/Seasonal-Agriculture-Performance-Data-Analysis-VOIS-Internship-Major-Project"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2819082" y="3588198"/>
            <a:ext cx="6361494" cy="1059855"/>
          </a:xfrm>
        </p:spPr>
        <p:txBody>
          <a:bodyPr vert="horz" lIns="91440" tIns="45720" rIns="91440" bIns="45720" rtlCol="0" anchor="t">
            <a:normAutofit/>
          </a:bodyPr>
          <a:lstStyle/>
          <a:p>
            <a:pPr algn="r"/>
            <a:r>
              <a:rPr lang="en-US" dirty="0">
                <a:solidFill>
                  <a:schemeClr val="tx1"/>
                </a:solidFill>
              </a:rPr>
              <a:t>Name:- Jaydev </a:t>
            </a:r>
            <a:r>
              <a:rPr lang="en-US" dirty="0" err="1">
                <a:solidFill>
                  <a:schemeClr val="tx1"/>
                </a:solidFill>
              </a:rPr>
              <a:t>Hirenbhai</a:t>
            </a:r>
            <a:r>
              <a:rPr lang="en-US" dirty="0">
                <a:solidFill>
                  <a:schemeClr val="tx1"/>
                </a:solidFill>
              </a:rPr>
              <a:t> Bhatt    </a:t>
            </a:r>
            <a:endParaRPr lang="en-IN" dirty="0">
              <a:solidFill>
                <a:schemeClr val="tx1"/>
              </a:solidFill>
            </a:endParaRPr>
          </a:p>
          <a:p>
            <a:pPr algn="r"/>
            <a:r>
              <a:rPr lang="en-US" dirty="0">
                <a:solidFill>
                  <a:schemeClr val="tx1"/>
                </a:solidFill>
              </a:rPr>
              <a:t>College Name- A D Patel Institute of Technology</a:t>
            </a:r>
            <a:endParaRPr lang="en-IN"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4" y="2844750"/>
            <a:ext cx="9892100" cy="743448"/>
          </a:xfrm>
        </p:spPr>
        <p:txBody>
          <a:bodyPr>
            <a:normAutofit fontScale="90000"/>
          </a:bodyPr>
          <a:lstStyle/>
          <a:p>
            <a:r>
              <a:rPr lang="en-GB" sz="3200" dirty="0"/>
              <a:t>Project Title - </a:t>
            </a:r>
            <a:r>
              <a:rPr lang="en-IN" sz="3200" dirty="0"/>
              <a:t>Seasonal Agriculture Performance Analysis </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957406" y="4576469"/>
            <a:ext cx="5138594" cy="369332"/>
          </a:xfrm>
          <a:prstGeom prst="rect">
            <a:avLst/>
          </a:prstGeom>
          <a:noFill/>
        </p:spPr>
        <p:txBody>
          <a:bodyPr wrap="square" rtlCol="0">
            <a:spAutoFit/>
          </a:bodyPr>
          <a:lstStyle/>
          <a:p>
            <a:r>
              <a:rPr lang="en-US" b="1" dirty="0"/>
              <a:t>AICTE STU ID : </a:t>
            </a:r>
            <a:r>
              <a:rPr lang="en-IN" dirty="0"/>
              <a:t>STU6a279c60ae81f1780980832</a:t>
            </a:r>
            <a:endParaRPr lang="en-US" b="1"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754602" y="2232933"/>
            <a:ext cx="6995604" cy="4432027"/>
          </a:xfrm>
        </p:spPr>
        <p:txBody>
          <a:bodyPr vert="horz" lIns="91440" tIns="45720" rIns="91440" bIns="45720" rtlCol="0" anchor="t">
            <a:normAutofit fontScale="77500" lnSpcReduction="20000"/>
          </a:bodyPr>
          <a:lstStyle/>
          <a:p>
            <a:pPr>
              <a:lnSpc>
                <a:spcPct val="100000"/>
              </a:lnSpc>
            </a:pPr>
            <a:r>
              <a:rPr lang="en-IN"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t>
            </a:r>
            <a:r>
              <a:rPr lang="en-IN" sz="2800" dirty="0" err="1"/>
              <a:t>analyze</a:t>
            </a:r>
            <a:r>
              <a:rPr lang="en-IN" sz="2800" dirty="0"/>
              <a:t> the given agricultural dataset and investigate seasonal differences in agricultural performance by identifying meaningful patterns, trends, relationships and variations within the available data.</a:t>
            </a: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418591" y="361759"/>
            <a:ext cx="8181849" cy="830997"/>
          </a:xfrm>
        </p:spPr>
        <p:txBody>
          <a:bodyPr>
            <a:normAutofit fontScale="90000"/>
          </a:bodyPr>
          <a:lstStyle/>
          <a:p>
            <a:pPr lvl="0"/>
            <a:r>
              <a:rPr lang="en-GB" dirty="0"/>
              <a:t>Project Description:-</a:t>
            </a:r>
            <a:br>
              <a:rPr lang="en-GB" dirty="0"/>
            </a:br>
            <a:r>
              <a:rPr lang="en-IN" sz="2400" dirty="0" err="1"/>
              <a:t>Analyzed</a:t>
            </a:r>
            <a:r>
              <a:rPr lang="en-IN" sz="2400" dirty="0"/>
              <a:t> 4,000 farm-level records across 8 states, 8 crops, 4 irrigation methods, and 3 cropping seasons — Kharif, Rabi, and Zaid.</a:t>
            </a:r>
            <a:br>
              <a:rPr lang="en-IN" sz="2400" dirty="0"/>
            </a:br>
            <a:r>
              <a:rPr lang="en-IN" sz="2400" dirty="0"/>
              <a:t>Studied rainfall, yield, water efficiency, disease/pest risk, cost, revenue, and profit using data cleaning, EDA, correlation, and comparative analysis.</a:t>
            </a:r>
            <a:br>
              <a:rPr lang="en-IN" sz="2400" dirty="0"/>
            </a:br>
            <a:r>
              <a:rPr lang="en-IN" sz="2400" dirty="0"/>
              <a:t>Kharif emerged as the most profitable season, with the highest average yield and profit, but also the highest disease/pest risk.</a:t>
            </a:r>
            <a:br>
              <a:rPr lang="en-IN" sz="2400" dirty="0"/>
            </a:br>
            <a:r>
              <a:rPr lang="en-IN" sz="2400" dirty="0"/>
              <a:t>Zaid was the weakest-performing season, with 64.5% of farms operating at a loss.</a:t>
            </a:r>
            <a:br>
              <a:rPr lang="en-IN" sz="2400" dirty="0"/>
            </a:br>
            <a:r>
              <a:rPr lang="en-IN" sz="2400" dirty="0"/>
              <a:t>Found that crop choice and irrigation method can influence profitability more than season alone.</a:t>
            </a:r>
            <a:br>
              <a:rPr lang="en-IN" sz="2400" dirty="0"/>
            </a:br>
            <a:r>
              <a:rPr lang="en-IN" sz="2400" dirty="0"/>
              <a:t>Drip irrigation generated nearly 3× the average profit of Flood irrigation, highlighting the potential of efficient resource management.</a:t>
            </a:r>
            <a:br>
              <a:rPr lang="en-IN" sz="2400" dirty="0"/>
            </a:b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2186781"/>
            <a:ext cx="7904481" cy="3990023"/>
          </a:xfrm>
        </p:spPr>
        <p:txBody>
          <a:bodyPr>
            <a:normAutofit fontScale="62500" lnSpcReduction="20000"/>
          </a:bodyPr>
          <a:lstStyle/>
          <a:p>
            <a:pPr lvl="0"/>
            <a:r>
              <a:rPr lang="en-IN" sz="3600" dirty="0"/>
              <a:t>Farmers — season/crop/irrigation planning decisions</a:t>
            </a:r>
          </a:p>
          <a:p>
            <a:pPr lvl="0"/>
            <a:r>
              <a:rPr lang="en-IN" sz="3600" dirty="0"/>
              <a:t>Agricultural Extension Officers / Krishi Vigyan </a:t>
            </a:r>
            <a:r>
              <a:rPr lang="en-IN" sz="3600" dirty="0" err="1"/>
              <a:t>Kendras</a:t>
            </a:r>
            <a:r>
              <a:rPr lang="en-IN" sz="3600" dirty="0"/>
              <a:t> — advisory guidance</a:t>
            </a:r>
          </a:p>
          <a:p>
            <a:pPr lvl="0"/>
            <a:r>
              <a:rPr lang="en-IN" sz="3600" dirty="0"/>
              <a:t>State Agriculture Departments &amp; policymakers — subsidy and planning allocation by season</a:t>
            </a:r>
          </a:p>
          <a:p>
            <a:pPr lvl="0"/>
            <a:r>
              <a:rPr lang="en-IN" sz="3600" dirty="0"/>
              <a:t>Banks &amp; crop insurance providers — risk assessment (e.g. flagging Zaid as high-risk)</a:t>
            </a:r>
          </a:p>
          <a:p>
            <a:pPr lvl="0"/>
            <a:r>
              <a:rPr lang="en-IN" sz="3600" dirty="0"/>
              <a:t>Agri-input companies (fertilizer, seed, irrigation equipment) — seasonal demand forecasting</a:t>
            </a:r>
          </a:p>
          <a:p>
            <a:pPr lvl="0"/>
            <a:r>
              <a:rPr lang="en-IN" sz="3600" dirty="0"/>
              <a:t>Agri-tech startups — building farmer advisory apps on top of this kind of analysis</a:t>
            </a:r>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248921" y="3847976"/>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277586" y="1463105"/>
            <a:ext cx="9027702" cy="5243448"/>
          </a:xfrm>
        </p:spPr>
        <p:txBody>
          <a:bodyPr/>
          <a:lstStyle/>
          <a:p>
            <a:pPr lvl="0"/>
            <a:r>
              <a:rPr lang="en-IN" dirty="0"/>
              <a:t>Python 3</a:t>
            </a:r>
          </a:p>
          <a:p>
            <a:pPr lvl="0"/>
            <a:r>
              <a:rPr lang="en-IN" dirty="0"/>
              <a:t>Pandas, NumPy — data cleaning, aggregation, group-wise imputation</a:t>
            </a:r>
          </a:p>
          <a:p>
            <a:pPr lvl="0"/>
            <a:r>
              <a:rPr lang="en-IN" dirty="0"/>
              <a:t>Matplotlib, Seaborn — univariate/bivariate/multivariate visualization, heatmaps</a:t>
            </a:r>
          </a:p>
          <a:p>
            <a:pPr lvl="0"/>
            <a:r>
              <a:rPr lang="en-IN" dirty="0"/>
              <a:t>Jupyter Notebook / Google </a:t>
            </a:r>
            <a:r>
              <a:rPr lang="en-IN" dirty="0" err="1"/>
              <a:t>Colab</a:t>
            </a:r>
            <a:r>
              <a:rPr lang="en-IN" dirty="0"/>
              <a:t> — development and documentation environment</a:t>
            </a:r>
          </a:p>
          <a:p>
            <a:pPr lvl="0"/>
            <a:r>
              <a:rPr lang="en-IN" dirty="0"/>
              <a:t>Statistical techniques — IQR outlier detection, correlation analysis, pivot-table cross-tabulation</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14679" y="15144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807164" y="1431693"/>
            <a:ext cx="4275138" cy="477520"/>
          </a:xfrm>
        </p:spPr>
        <p:txBody>
          <a:bodyPr vert="horz" lIns="91440" tIns="45720" rIns="91440" bIns="45720" rtlCol="0" anchor="t">
            <a:normAutofit/>
          </a:bodyPr>
          <a:lstStyle/>
          <a:p>
            <a:pPr marL="0" indent="0">
              <a:buNone/>
            </a:pPr>
            <a:r>
              <a:rPr lang="en-US" dirty="0"/>
              <a:t> </a:t>
            </a:r>
            <a:endParaRPr lang="en-IN" dirty="0"/>
          </a:p>
        </p:txBody>
      </p:sp>
      <p:pic>
        <p:nvPicPr>
          <p:cNvPr id="6" name="Picture 5">
            <a:extLst>
              <a:ext uri="{FF2B5EF4-FFF2-40B4-BE49-F238E27FC236}">
                <a16:creationId xmlns:a16="http://schemas.microsoft.com/office/drawing/2014/main" id="{C2BF49E3-1999-CBE2-A812-E3095DC40C45}"/>
              </a:ext>
            </a:extLst>
          </p:cNvPr>
          <p:cNvPicPr>
            <a:picLocks noChangeAspect="1"/>
          </p:cNvPicPr>
          <p:nvPr/>
        </p:nvPicPr>
        <p:blipFill>
          <a:blip r:embed="rId3"/>
          <a:stretch>
            <a:fillRect/>
          </a:stretch>
        </p:blipFill>
        <p:spPr>
          <a:xfrm>
            <a:off x="1" y="1431693"/>
            <a:ext cx="12192000" cy="4450632"/>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2" name="Picture 1">
            <a:extLst>
              <a:ext uri="{FF2B5EF4-FFF2-40B4-BE49-F238E27FC236}">
                <a16:creationId xmlns:a16="http://schemas.microsoft.com/office/drawing/2014/main" id="{8EFBA8A0-6CAB-0822-4B85-7CDF9DD4FEDD}"/>
              </a:ext>
            </a:extLst>
          </p:cNvPr>
          <p:cNvPicPr>
            <a:picLocks noChangeAspect="1"/>
          </p:cNvPicPr>
          <p:nvPr/>
        </p:nvPicPr>
        <p:blipFill>
          <a:blip r:embed="rId3"/>
          <a:stretch>
            <a:fillRect/>
          </a:stretch>
        </p:blipFill>
        <p:spPr>
          <a:xfrm>
            <a:off x="0" y="1275371"/>
            <a:ext cx="12122401" cy="4501081"/>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2" name="Picture 1">
            <a:extLst>
              <a:ext uri="{FF2B5EF4-FFF2-40B4-BE49-F238E27FC236}">
                <a16:creationId xmlns:a16="http://schemas.microsoft.com/office/drawing/2014/main" id="{4CB091F4-4DD6-46E9-71C1-7DEF6DEFB31A}"/>
              </a:ext>
            </a:extLst>
          </p:cNvPr>
          <p:cNvPicPr>
            <a:picLocks noChangeAspect="1"/>
          </p:cNvPicPr>
          <p:nvPr/>
        </p:nvPicPr>
        <p:blipFill>
          <a:blip r:embed="rId3"/>
          <a:stretch>
            <a:fillRect/>
          </a:stretch>
        </p:blipFill>
        <p:spPr>
          <a:xfrm>
            <a:off x="10086" y="1061846"/>
            <a:ext cx="12181914" cy="5796153"/>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2" name="Picture 1">
            <a:extLst>
              <a:ext uri="{FF2B5EF4-FFF2-40B4-BE49-F238E27FC236}">
                <a16:creationId xmlns:a16="http://schemas.microsoft.com/office/drawing/2014/main" id="{DA2E32AA-3AE5-A7C2-85A2-C4A351D96A2F}"/>
              </a:ext>
            </a:extLst>
          </p:cNvPr>
          <p:cNvPicPr>
            <a:picLocks noChangeAspect="1"/>
          </p:cNvPicPr>
          <p:nvPr/>
        </p:nvPicPr>
        <p:blipFill>
          <a:blip r:embed="rId3"/>
          <a:stretch>
            <a:fillRect/>
          </a:stretch>
        </p:blipFill>
        <p:spPr>
          <a:xfrm>
            <a:off x="-850" y="1053948"/>
            <a:ext cx="12192849" cy="5804052"/>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2" name="Picture 1">
            <a:extLst>
              <a:ext uri="{FF2B5EF4-FFF2-40B4-BE49-F238E27FC236}">
                <a16:creationId xmlns:a16="http://schemas.microsoft.com/office/drawing/2014/main" id="{8C183F82-6B22-F0D9-80DE-8ED0A03FDFC6}"/>
              </a:ext>
            </a:extLst>
          </p:cNvPr>
          <p:cNvPicPr>
            <a:picLocks noChangeAspect="1"/>
          </p:cNvPicPr>
          <p:nvPr/>
        </p:nvPicPr>
        <p:blipFill>
          <a:blip r:embed="rId3"/>
          <a:stretch>
            <a:fillRect/>
          </a:stretch>
        </p:blipFill>
        <p:spPr>
          <a:xfrm>
            <a:off x="79081" y="1098423"/>
            <a:ext cx="6279214" cy="5164074"/>
          </a:xfrm>
          <a:prstGeom prst="rect">
            <a:avLst/>
          </a:prstGeom>
        </p:spPr>
      </p:pic>
      <p:pic>
        <p:nvPicPr>
          <p:cNvPr id="3" name="Picture 2">
            <a:extLst>
              <a:ext uri="{FF2B5EF4-FFF2-40B4-BE49-F238E27FC236}">
                <a16:creationId xmlns:a16="http://schemas.microsoft.com/office/drawing/2014/main" id="{EEC51455-E371-7D45-511E-2DE0F8BF8B0B}"/>
              </a:ext>
            </a:extLst>
          </p:cNvPr>
          <p:cNvPicPr>
            <a:picLocks noChangeAspect="1"/>
          </p:cNvPicPr>
          <p:nvPr/>
        </p:nvPicPr>
        <p:blipFill>
          <a:blip r:embed="rId4"/>
          <a:stretch>
            <a:fillRect/>
          </a:stretch>
        </p:blipFill>
        <p:spPr>
          <a:xfrm>
            <a:off x="6457621" y="1034415"/>
            <a:ext cx="5734380" cy="5164074"/>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6BA9DD-85F2-B73C-3534-8093331CB9D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87B6E05-5BE4-8BF6-BBFD-6C8080A3FF8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805F3C4-0793-F0A1-9439-18F5B1B58FB1}"/>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89F6DE5-22BC-A3A9-903D-625EF7EA8C9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6DF51393-B702-F562-B1EF-98A53B2DDC5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10BDC5A8-F8B2-24B3-BBDD-65AF957BEA8A}"/>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2" name="Picture 1">
            <a:extLst>
              <a:ext uri="{FF2B5EF4-FFF2-40B4-BE49-F238E27FC236}">
                <a16:creationId xmlns:a16="http://schemas.microsoft.com/office/drawing/2014/main" id="{0A957DF5-C815-BD17-A6D7-85288C52FF54}"/>
              </a:ext>
            </a:extLst>
          </p:cNvPr>
          <p:cNvPicPr>
            <a:picLocks noChangeAspect="1"/>
          </p:cNvPicPr>
          <p:nvPr/>
        </p:nvPicPr>
        <p:blipFill>
          <a:blip r:embed="rId3"/>
          <a:stretch>
            <a:fillRect/>
          </a:stretch>
        </p:blipFill>
        <p:spPr>
          <a:xfrm>
            <a:off x="0" y="997838"/>
            <a:ext cx="12192000" cy="5860162"/>
          </a:xfrm>
          <a:prstGeom prst="rect">
            <a:avLst/>
          </a:prstGeom>
        </p:spPr>
      </p:pic>
    </p:spTree>
    <p:extLst>
      <p:ext uri="{BB962C8B-B14F-4D97-AF65-F5344CB8AC3E}">
        <p14:creationId xmlns:p14="http://schemas.microsoft.com/office/powerpoint/2010/main" val="3952737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881796-7FDA-4D6B-DED0-B361A2DED3D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07FBAE0-18D7-6A45-A78B-929A2CD137CD}"/>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356C478-0C8D-EB13-2BDE-2FE0F643FAC0}"/>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966D604-E827-67D6-E9D8-B49A4B36CD87}"/>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5EA2E067-5B86-E6EB-09A1-015266F9E90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52D1E009-3CC4-4AE8-8A7F-BB5EB422416C}"/>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366FA6E8-58DC-30DB-DCA3-C2C026CF624E}"/>
              </a:ext>
            </a:extLst>
          </p:cNvPr>
          <p:cNvPicPr>
            <a:picLocks noChangeAspect="1"/>
          </p:cNvPicPr>
          <p:nvPr/>
        </p:nvPicPr>
        <p:blipFill>
          <a:blip r:embed="rId3"/>
          <a:stretch>
            <a:fillRect/>
          </a:stretch>
        </p:blipFill>
        <p:spPr>
          <a:xfrm>
            <a:off x="144018" y="1018773"/>
            <a:ext cx="12047982" cy="5839227"/>
          </a:xfrm>
          <a:prstGeom prst="rect">
            <a:avLst/>
          </a:prstGeom>
        </p:spPr>
      </p:pic>
    </p:spTree>
    <p:extLst>
      <p:ext uri="{BB962C8B-B14F-4D97-AF65-F5344CB8AC3E}">
        <p14:creationId xmlns:p14="http://schemas.microsoft.com/office/powerpoint/2010/main" val="1639092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9EE98FB6-AD81-7077-1E26-E7D10DDAB411}"/>
              </a:ext>
            </a:extLst>
          </p:cNvPr>
          <p:cNvSpPr txBox="1"/>
          <p:nvPr/>
        </p:nvSpPr>
        <p:spPr>
          <a:xfrm>
            <a:off x="675956" y="1396228"/>
            <a:ext cx="6922707" cy="3785652"/>
          </a:xfrm>
          <a:prstGeom prst="rect">
            <a:avLst/>
          </a:prstGeom>
          <a:noFill/>
        </p:spPr>
        <p:txBody>
          <a:bodyPr wrap="square">
            <a:spAutoFit/>
          </a:bodyPr>
          <a:lstStyle/>
          <a:p>
            <a:pPr marL="342900" lvl="0" indent="-342900">
              <a:buFont typeface="Arial" panose="020B0604020202020204" pitchFamily="34" charset="0"/>
              <a:buChar char="•"/>
            </a:pPr>
            <a:r>
              <a:rPr lang="en-IN" sz="2000" b="1" dirty="0"/>
              <a:t>Predictive ML model (regression) to forecast yield/profit from environmental + input features</a:t>
            </a:r>
          </a:p>
          <a:p>
            <a:pPr marL="342900" lvl="0" indent="-342900">
              <a:buFont typeface="Arial" panose="020B0604020202020204" pitchFamily="34" charset="0"/>
              <a:buChar char="•"/>
            </a:pPr>
            <a:r>
              <a:rPr lang="en-IN" sz="2000" b="1" dirty="0"/>
              <a:t>Live weather API (IMD) integration for real-time seasonal forecasting instead of static data</a:t>
            </a:r>
          </a:p>
          <a:p>
            <a:pPr marL="342900" lvl="0" indent="-342900">
              <a:buFont typeface="Arial" panose="020B0604020202020204" pitchFamily="34" charset="0"/>
              <a:buChar char="•"/>
            </a:pPr>
            <a:r>
              <a:rPr lang="en-IN" sz="2000" b="1" dirty="0"/>
              <a:t>Crop &amp; irrigation-method recommendation engine tailored to a farm's specific conditions</a:t>
            </a:r>
          </a:p>
          <a:p>
            <a:pPr marL="342900" lvl="0" indent="-342900">
              <a:buFont typeface="Arial" panose="020B0604020202020204" pitchFamily="34" charset="0"/>
              <a:buChar char="•"/>
            </a:pPr>
            <a:r>
              <a:rPr lang="en-IN" sz="2000" b="1" dirty="0"/>
              <a:t>Interactive dashboard (Power BI / </a:t>
            </a:r>
            <a:r>
              <a:rPr lang="en-IN" sz="2000" b="1" dirty="0" err="1"/>
              <a:t>Streamlit</a:t>
            </a:r>
            <a:r>
              <a:rPr lang="en-IN" sz="2000" b="1" dirty="0"/>
              <a:t>) for farmers and policymakers, not just a static notebook</a:t>
            </a:r>
          </a:p>
          <a:p>
            <a:pPr marL="342900" lvl="0" indent="-342900">
              <a:buFont typeface="Arial" panose="020B0604020202020204" pitchFamily="34" charset="0"/>
              <a:buChar char="•"/>
            </a:pPr>
            <a:r>
              <a:rPr lang="en-IN" sz="2000" b="1" dirty="0"/>
              <a:t>Real, geotagged multi-year data to replace the current single-snapshot, synthetic-geography dataset</a:t>
            </a:r>
          </a:p>
          <a:p>
            <a:pPr marL="342900" lvl="0" indent="-342900">
              <a:buFont typeface="Arial" panose="020B0604020202020204" pitchFamily="34" charset="0"/>
              <a:buChar char="•"/>
            </a:pPr>
            <a:r>
              <a:rPr lang="en-IN" sz="2000" b="1" dirty="0"/>
              <a:t>Regional-language mobile advisory app built on these insights</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E9250D8E-D8C2-FF28-3DA8-5C17CE1414F3}"/>
              </a:ext>
            </a:extLst>
          </p:cNvPr>
          <p:cNvSpPr txBox="1"/>
          <p:nvPr/>
        </p:nvSpPr>
        <p:spPr>
          <a:xfrm>
            <a:off x="675957" y="2265926"/>
            <a:ext cx="7690104" cy="646331"/>
          </a:xfrm>
          <a:prstGeom prst="rect">
            <a:avLst/>
          </a:prstGeom>
          <a:noFill/>
        </p:spPr>
        <p:txBody>
          <a:bodyPr wrap="square" rtlCol="0">
            <a:spAutoFit/>
          </a:bodyPr>
          <a:lstStyle/>
          <a:p>
            <a:r>
              <a:rPr lang="en-IN" dirty="0">
                <a:hlinkClick r:id="rId3"/>
              </a:rPr>
              <a:t>https://github.com/bhattjaydev007-ai/Seasonal-Agriculture-Performance-Data-Analysis-VOIS-Internship-Major-Project</a:t>
            </a:r>
            <a:endParaRPr lang="en-IN"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C129EED0-599E-F27F-E89B-AE46CADB6BA9}"/>
              </a:ext>
            </a:extLst>
          </p:cNvPr>
          <p:cNvPicPr>
            <a:picLocks noChangeAspect="1"/>
          </p:cNvPicPr>
          <p:nvPr/>
        </p:nvPicPr>
        <p:blipFill>
          <a:blip r:embed="rId3"/>
          <a:stretch>
            <a:fillRect/>
          </a:stretch>
        </p:blipFill>
        <p:spPr>
          <a:xfrm>
            <a:off x="1836587" y="1275371"/>
            <a:ext cx="7910917" cy="5526287"/>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585</TotalTime>
  <Words>561</Words>
  <Application>Microsoft Office PowerPoint</Application>
  <PresentationFormat>Widescreen</PresentationFormat>
  <Paragraphs>48</Paragraphs>
  <Slides>16</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Trebuchet MS</vt:lpstr>
      <vt:lpstr>Wingdings</vt:lpstr>
      <vt:lpstr>Wingdings 3</vt:lpstr>
      <vt:lpstr>Facet</vt:lpstr>
      <vt:lpstr>Project Title - Seasonal Agriculture Performance Analysis </vt:lpstr>
      <vt:lpstr>PROBLEM  STATEMENT</vt:lpstr>
      <vt:lpstr>Project Description:- Analyzed 4,000 farm-level records across 8 states, 8 crops, 4 irrigation methods, and 3 cropping seasons — Kharif, Rabi, and Zaid. Studied rainfall, yield, water efficiency, disease/pest risk, cost, revenue, and profit using data cleaning, EDA, correlation, and comparative analysis. Kharif emerged as the most profitable season, with the highest average yield and profit, but also the highest disease/pest risk. Zaid was the weakest-performing season, with 64.5% of farms operating at a loss. Found that crop choice and irrigation method can influence profitability more than season alone. Drip irrigation generated nearly 3× the average profit of Flood irrigation, highlighting the potential of efficient resource management.  </vt:lpstr>
      <vt:lpstr>WHO ARE THE END USERS?</vt:lpstr>
      <vt:lpstr>Technology Used</vt:lpstr>
      <vt:lpstr>RESULTS </vt:lpstr>
      <vt:lpstr>RESULTS </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jaydevh bhatt</cp:lastModifiedBy>
  <cp:revision>98</cp:revision>
  <dcterms:created xsi:type="dcterms:W3CDTF">2021-07-11T13:13:15Z</dcterms:created>
  <dcterms:modified xsi:type="dcterms:W3CDTF">2026-09-08T12:58:50Z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